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8"/>
  </p:notesMasterIdLst>
  <p:sldIdLst>
    <p:sldId id="256" r:id="rId3"/>
    <p:sldId id="266" r:id="rId4"/>
    <p:sldId id="267" r:id="rId5"/>
    <p:sldId id="257" r:id="rId6"/>
    <p:sldId id="258" r:id="rId7"/>
    <p:sldId id="279" r:id="rId8"/>
    <p:sldId id="268" r:id="rId9"/>
    <p:sldId id="269" r:id="rId10"/>
    <p:sldId id="259" r:id="rId11"/>
    <p:sldId id="286" r:id="rId12"/>
    <p:sldId id="280" r:id="rId13"/>
    <p:sldId id="260" r:id="rId14"/>
    <p:sldId id="273" r:id="rId15"/>
    <p:sldId id="274" r:id="rId16"/>
    <p:sldId id="283" r:id="rId17"/>
    <p:sldId id="287" r:id="rId18"/>
    <p:sldId id="284" r:id="rId19"/>
    <p:sldId id="281" r:id="rId20"/>
    <p:sldId id="275" r:id="rId21"/>
    <p:sldId id="270" r:id="rId22"/>
    <p:sldId id="261" r:id="rId23"/>
    <p:sldId id="285" r:id="rId24"/>
    <p:sldId id="277" r:id="rId25"/>
    <p:sldId id="278" r:id="rId26"/>
    <p:sldId id="272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535" autoAdjust="0"/>
    <p:restoredTop sz="94610"/>
  </p:normalViewPr>
  <p:slideViewPr>
    <p:cSldViewPr snapToGrid="0" snapToObjects="1">
      <p:cViewPr>
        <p:scale>
          <a:sx n="136" d="100"/>
          <a:sy n="136" d="100"/>
        </p:scale>
        <p:origin x="25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60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B531-0D3E-1719-0C52-7BED554E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0E467-EA82-E55E-1842-4A532D9D4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9879C-7B5C-1C36-5B21-18192D99D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612E2-6316-C9E4-54BC-92402563B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174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AD78-00AE-84D9-B824-6F3A23E5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E9A0F-FE95-2342-7833-808AD9D3D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4A51E-18C6-1075-C358-A10A31DA1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F7CE8-50FB-2B52-759D-DC84AF84C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8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E3567-E9A7-6926-2D9D-CD2C0AB4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02855-B6FD-9B57-4D94-BBACBE8C4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356D0-F9D9-78DC-6C81-42396D480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A3272-BF67-D3F2-C987-7F8320EFF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89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BCC6-4626-F763-0B0F-2B3450E1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EB09C-8857-75AF-955A-D85C00737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2A518-32DB-4904-930E-1C24C99D4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83EE6-0D36-31E5-E17C-DB25AB6D1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02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DF69-3839-133F-43C5-8CD2A9EE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93439-6334-8F71-46A7-EB3E773C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378E1-CBF5-64B8-CDDA-159CEFD04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D8F80-C130-5A50-D91C-815474598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48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8CBC-E2F1-4E19-F300-D715B45C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E06CA-49CE-D9FD-6431-6C0AA27B6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AE793-4AA6-ADDE-5F81-B42C7A879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BDDA2-2D7A-C60D-9481-81ABFC497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105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D1B8D-1E7B-5A0B-262F-47EB363C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C549E-7122-746B-B588-3C2DABFDF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67DE3-03D0-53B9-F0C6-C15F8A46D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4498E-6863-C74E-19D8-C0383C96F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644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8B25-57EC-5D67-D693-E189038D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37592-ADAF-92B0-7697-984704E97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6A7BE-29C2-5659-02C6-CECBDBF2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99500-062D-8EDB-A1DA-137C1AF93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433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1F80-2561-E96F-EB5A-2E2771A97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84F00-5104-89F6-879F-B2077444C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4CC2A-98B9-698A-AF11-501237179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7AC8E-E135-B977-96F0-5A410AB64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891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1CE1-CAF2-50BA-B9E8-4021A9EA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1C9D8-3144-E38B-729C-035985D95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65CD9-27A2-B5DB-D9B4-AA6C2FD2B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28C84-F79F-74C2-675E-3D4F659B2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89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5C0A-4368-43AF-401C-22159E10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A4B04-68F7-2C47-7387-B16E9DBD9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EDFD9-9808-04D3-B83F-115F6BCAE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2838F-1AE2-FC12-E9D0-A4122F9F1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954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6F339-ADBA-1260-1B2C-243264AB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55983-B982-D417-45A0-4791D8B79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1B639-1293-9B15-91CB-F5C37D82E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3C444-C4FF-1BBD-B20F-3C883B325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133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FC19-36CC-3216-B98C-406E06C8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74853-13AC-D818-ABA3-ECD52EBB2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421B7-8A87-451A-685A-07DAA6CF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4CEBD-8251-EAF2-887D-51CEC25F8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2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4C04-724C-B5A7-93A9-4C36796B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E1269-D94D-0422-0E8A-9BCF9B77A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0EEF2-6017-0CD8-EFD9-93B8F3D83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2E985-30BC-C403-2DC7-E4BD97F8A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764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D18B1-2CE7-70B6-5952-46177D8F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12E5D-604C-7416-FE5A-E3E15D521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1EC7C-DFC0-1AE1-5285-B0056B27E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C9EE-B313-320C-56D4-82E27EB8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056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0146-9F39-0075-7FC5-CF373BEB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964E8-9869-5530-877B-18807E5F7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88D89-DB80-DFF3-D726-EEC05A3BF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8DC61-160D-9A6C-38AF-E35BFA13C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78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9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1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5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6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5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1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6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24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0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2286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2286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2286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2286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2286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2286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2286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2286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2286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2286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89888" y="644652"/>
            <a:ext cx="6291072" cy="3790188"/>
          </a:xfrm>
          <a:prstGeom prst="rect">
            <a:avLst/>
          </a:prstGeom>
          <a:solidFill>
            <a:srgbClr val="050B15"/>
          </a:solidFill>
          <a:ln w="19050">
            <a:solidFill>
              <a:srgbClr val="2563EB"/>
            </a:solidFill>
            <a:prstDash val="solid"/>
          </a:ln>
          <a:effectLst>
            <a:outerShdw blurRad="279400" dist="50800" dir="8100000" algn="bl" rotWithShape="0">
              <a:srgbClr val="000010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92243" y="749195"/>
            <a:ext cx="6291072" cy="868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12907" y="865657"/>
            <a:ext cx="5392615" cy="517331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1646" y="1074420"/>
            <a:ext cx="50292" cy="3108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3810" y="1074420"/>
            <a:ext cx="50292" cy="3108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443484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443484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4434840"/>
            <a:ext cx="64008" cy="640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4217" y="443484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66892" y="443484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769698-2942-B55C-2295-D372BEA0948F}"/>
              </a:ext>
            </a:extLst>
          </p:cNvPr>
          <p:cNvSpPr txBox="1"/>
          <p:nvPr/>
        </p:nvSpPr>
        <p:spPr>
          <a:xfrm>
            <a:off x="1800664" y="2065681"/>
            <a:ext cx="5681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Micro-level</a:t>
            </a:r>
          </a:p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 Surface Crack Detection In Steel</a:t>
            </a:r>
            <a:endParaRPr lang="en-IN" sz="2800" b="1" dirty="0">
              <a:solidFill>
                <a:schemeClr val="bg1">
                  <a:lumMod val="9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68FDCE-9BAB-CC73-98B3-9F651DAFC9F8}"/>
              </a:ext>
            </a:extLst>
          </p:cNvPr>
          <p:cNvSpPr txBox="1"/>
          <p:nvPr/>
        </p:nvSpPr>
        <p:spPr>
          <a:xfrm>
            <a:off x="1469898" y="3219123"/>
            <a:ext cx="5065248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Team: </a:t>
            </a:r>
            <a:endParaRPr lang="en-IN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Waris (1024170155)</a:t>
            </a:r>
            <a:endParaRPr lang="en-IN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Tanishq (1024170156)</a:t>
            </a:r>
            <a:endParaRPr lang="en-IN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Kanan (1024170164)</a:t>
            </a:r>
            <a:endParaRPr lang="en-IN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Samriddhi Gupta (1024170165)</a:t>
            </a:r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Group Leader </a:t>
            </a:r>
            <a:endParaRPr lang="en-IN" sz="10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Ananya Dayal (1024170205)</a:t>
            </a:r>
            <a:endParaRPr lang="en-IN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900" dirty="0">
              <a:solidFill>
                <a:schemeClr val="bg1">
                  <a:lumMod val="9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7915F-D22F-01DA-7A3B-363FC3C155DE}"/>
              </a:ext>
            </a:extLst>
          </p:cNvPr>
          <p:cNvSpPr txBox="1"/>
          <p:nvPr/>
        </p:nvSpPr>
        <p:spPr>
          <a:xfrm>
            <a:off x="4984184" y="3774559"/>
            <a:ext cx="4708280" cy="54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125"/>
              </a:lnSpc>
              <a:buNone/>
            </a:pP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YAFdJjbTu24_1"/>
              </a:rPr>
              <a:t>Submitted To: Dr. Ritesh Sharma</a:t>
            </a:r>
            <a:endParaRPr lang="en-IN" sz="14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YAFdJjbTu24_1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BF8664-9339-E1BF-274C-532440185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134" y="846460"/>
            <a:ext cx="869556" cy="74636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B6CD2CE-87A1-9126-A5FE-C63B506F7A75}"/>
              </a:ext>
            </a:extLst>
          </p:cNvPr>
          <p:cNvSpPr txBox="1"/>
          <p:nvPr/>
        </p:nvSpPr>
        <p:spPr>
          <a:xfrm>
            <a:off x="2194619" y="846460"/>
            <a:ext cx="5392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Thapar Institute Of Engineering And Technology, </a:t>
            </a:r>
          </a:p>
          <a:p>
            <a:pPr algn="ctr"/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Patiala.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489DE-A6E3-9C7E-BF9D-898E6BBE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411F58-EB69-031F-FADE-987D7C8496D3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64F3B3-66A2-2142-BF04-5D7C91F725C3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9F9329-DB98-1930-CEB6-4DEBB6F8A607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3FECDD-BADF-9823-56ED-5FDC3C6D131A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7E4DAD-907B-E9F0-CF31-B6B5D1427C5E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F195FE-68DF-99E6-88A6-C39C9F89A776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3EC0B20-81B6-2CE6-7176-B0D844046745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33F901-2913-0311-41D7-F72B2F41F1E8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52D85-D331-2904-B2AA-5DC624854D0F}"/>
              </a:ext>
            </a:extLst>
          </p:cNvPr>
          <p:cNvSpPr txBox="1"/>
          <p:nvPr/>
        </p:nvSpPr>
        <p:spPr>
          <a:xfrm>
            <a:off x="3148877" y="276999"/>
            <a:ext cx="28462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200" b="1">
                <a:solidFill>
                  <a:srgbClr val="F8FAFC"/>
                </a:solidFill>
                <a:latin typeface="Calibri"/>
              </a:defRPr>
            </a:pPr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Objective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E4D103-1A01-FE89-0A27-F4C0304FD851}"/>
              </a:ext>
            </a:extLst>
          </p:cNvPr>
          <p:cNvSpPr/>
          <p:nvPr/>
        </p:nvSpPr>
        <p:spPr>
          <a:xfrm>
            <a:off x="6361735" y="2559264"/>
            <a:ext cx="2359179" cy="2142721"/>
          </a:xfrm>
          <a:prstGeom prst="roundRect">
            <a:avLst/>
          </a:prstGeom>
          <a:solidFill>
            <a:srgbClr val="040F23"/>
          </a:solidFill>
          <a:ln>
            <a:solidFill>
              <a:srgbClr val="0070C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55D3D57F-45E9-A082-F86A-9EB8E4C5A391}"/>
              </a:ext>
            </a:extLst>
          </p:cNvPr>
          <p:cNvSpPr/>
          <p:nvPr/>
        </p:nvSpPr>
        <p:spPr>
          <a:xfrm>
            <a:off x="7644560" y="2458681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F607473-959C-B19B-3C3D-B2BF697C6525}"/>
              </a:ext>
            </a:extLst>
          </p:cNvPr>
          <p:cNvSpPr/>
          <p:nvPr/>
        </p:nvSpPr>
        <p:spPr>
          <a:xfrm>
            <a:off x="3673339" y="1608748"/>
            <a:ext cx="2321784" cy="2142721"/>
          </a:xfrm>
          <a:prstGeom prst="roundRect">
            <a:avLst/>
          </a:prstGeom>
          <a:solidFill>
            <a:srgbClr val="040F23"/>
          </a:solidFill>
          <a:ln>
            <a:solidFill>
              <a:srgbClr val="0070C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55E8AB78-771B-B8D1-C638-767CEEE89883}"/>
              </a:ext>
            </a:extLst>
          </p:cNvPr>
          <p:cNvSpPr/>
          <p:nvPr/>
        </p:nvSpPr>
        <p:spPr>
          <a:xfrm>
            <a:off x="4530237" y="1499020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83F72D-AA95-9A35-DB3C-64C159910DA5}"/>
              </a:ext>
            </a:extLst>
          </p:cNvPr>
          <p:cNvSpPr/>
          <p:nvPr/>
        </p:nvSpPr>
        <p:spPr>
          <a:xfrm>
            <a:off x="532683" y="2346491"/>
            <a:ext cx="2283757" cy="2142721"/>
          </a:xfrm>
          <a:prstGeom prst="roundRect">
            <a:avLst/>
          </a:prstGeom>
          <a:solidFill>
            <a:srgbClr val="040F23"/>
          </a:solidFill>
          <a:ln>
            <a:solidFill>
              <a:srgbClr val="0070C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/>
              <a:t>Identifying &amp; classifying surface defects — cracks, inclusions, patches, pits — on hot-rolled steel strips using advanced image analysis and machine learning.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20C353-09DE-06F0-A654-570259AE4C1B}"/>
              </a:ext>
            </a:extLst>
          </p:cNvPr>
          <p:cNvSpPr txBox="1"/>
          <p:nvPr/>
        </p:nvSpPr>
        <p:spPr>
          <a:xfrm>
            <a:off x="3679188" y="1965163"/>
            <a:ext cx="22837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2"/>
                </a:solidFill>
              </a:rPr>
              <a:t>Deep learning delivers consistent real-time detection with superhuman accuracy, operating 24/7 without fatigue and adapting through retraining.</a:t>
            </a:r>
            <a:endParaRPr lang="en-IN" sz="1400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7A7BD9-256F-94B0-A914-F6F83485B6A5}"/>
              </a:ext>
            </a:extLst>
          </p:cNvPr>
          <p:cNvSpPr txBox="1"/>
          <p:nvPr/>
        </p:nvSpPr>
        <p:spPr>
          <a:xfrm>
            <a:off x="6413277" y="2782120"/>
            <a:ext cx="238003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2"/>
                </a:solidFill>
              </a:rPr>
              <a:t>Surface quality impacts structural integrity in automotive, aerospace &amp; construction. Micro-cracks under stress can cause catastrophic component failure.</a:t>
            </a:r>
            <a:r>
              <a:rPr lang="en-US" sz="1200" dirty="0">
                <a:solidFill>
                  <a:schemeClr val="bg2"/>
                </a:solidFill>
                <a:latin typeface="Agency FB" panose="020B0503020202020204" pitchFamily="34" charset="0"/>
              </a:rPr>
              <a:t>.</a:t>
            </a:r>
            <a:endParaRPr lang="en-IN" sz="1200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EF539-2F5B-69C4-186C-7DD27F30D435}"/>
              </a:ext>
            </a:extLst>
          </p:cNvPr>
          <p:cNvSpPr txBox="1"/>
          <p:nvPr/>
        </p:nvSpPr>
        <p:spPr>
          <a:xfrm>
            <a:off x="532684" y="1641998"/>
            <a:ext cx="2846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What is Steel Crack Detection?</a:t>
            </a:r>
            <a:endParaRPr lang="en-IN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663D7-EA19-F14B-19D5-EBCD77137D0F}"/>
              </a:ext>
            </a:extLst>
          </p:cNvPr>
          <p:cNvSpPr txBox="1"/>
          <p:nvPr/>
        </p:nvSpPr>
        <p:spPr>
          <a:xfrm>
            <a:off x="6787662" y="2139641"/>
            <a:ext cx="163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Where to use?</a:t>
            </a:r>
            <a:endParaRPr lang="en-IN" b="1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135920-2178-B5AD-57FD-F7E4E6B54297}"/>
              </a:ext>
            </a:extLst>
          </p:cNvPr>
          <p:cNvSpPr txBox="1"/>
          <p:nvPr/>
        </p:nvSpPr>
        <p:spPr>
          <a:xfrm>
            <a:off x="3768530" y="3813490"/>
            <a:ext cx="246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Why Automated AI?</a:t>
            </a:r>
            <a:endParaRPr lang="en-IN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4E23D60D-5EA0-4EF4-260E-254B255C087A}"/>
              </a:ext>
            </a:extLst>
          </p:cNvPr>
          <p:cNvSpPr/>
          <p:nvPr/>
        </p:nvSpPr>
        <p:spPr>
          <a:xfrm>
            <a:off x="1412879" y="2207682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12" name="Shape 21">
            <a:extLst>
              <a:ext uri="{FF2B5EF4-FFF2-40B4-BE49-F238E27FC236}">
                <a16:creationId xmlns:a16="http://schemas.microsoft.com/office/drawing/2014/main" id="{73FC8646-B729-594E-08C0-D9C4BCBC8755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22373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57F2-A8E3-D09E-3425-4FFF11EB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>
            <a:extLst>
              <a:ext uri="{FF2B5EF4-FFF2-40B4-BE49-F238E27FC236}">
                <a16:creationId xmlns:a16="http://schemas.microsoft.com/office/drawing/2014/main" id="{F9CEE171-D7E5-807F-5D40-73D90F22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66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22B45-9CEF-2089-C349-FD4CAEDC7016}"/>
              </a:ext>
            </a:extLst>
          </p:cNvPr>
          <p:cNvSpPr txBox="1"/>
          <p:nvPr/>
        </p:nvSpPr>
        <p:spPr>
          <a:xfrm>
            <a:off x="455465" y="277168"/>
            <a:ext cx="70859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228600"/>
            <a:r>
              <a:rPr lang="en-IN" sz="3200" b="1" dirty="0">
                <a:solidFill>
                  <a:schemeClr val="bg2"/>
                </a:solidFill>
              </a:rPr>
              <a:t>Complete AI Pipeline Architecture</a:t>
            </a:r>
            <a:endParaRPr lang="en-US" sz="4800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663097-4945-0FBB-D215-C9324E87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66" y="974880"/>
            <a:ext cx="8292067" cy="3891452"/>
          </a:xfrm>
          <a:prstGeom prst="rect">
            <a:avLst/>
          </a:prstGeom>
        </p:spPr>
      </p:pic>
      <p:sp>
        <p:nvSpPr>
          <p:cNvPr id="3" name="Shape 21">
            <a:extLst>
              <a:ext uri="{FF2B5EF4-FFF2-40B4-BE49-F238E27FC236}">
                <a16:creationId xmlns:a16="http://schemas.microsoft.com/office/drawing/2014/main" id="{681EC2C1-A3AA-1B70-DC26-19B5CFBE4932}"/>
              </a:ext>
            </a:extLst>
          </p:cNvPr>
          <p:cNvSpPr/>
          <p:nvPr/>
        </p:nvSpPr>
        <p:spPr>
          <a:xfrm flipV="1">
            <a:off x="2788754" y="820850"/>
            <a:ext cx="3725167" cy="45719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26173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18C9BC-C1E4-BD0B-20CA-9E8DDB519449}"/>
              </a:ext>
            </a:extLst>
          </p:cNvPr>
          <p:cNvSpPr txBox="1"/>
          <p:nvPr/>
        </p:nvSpPr>
        <p:spPr>
          <a:xfrm>
            <a:off x="1875934" y="87421"/>
            <a:ext cx="45688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200" b="1">
                <a:solidFill>
                  <a:srgbClr val="F8FAFC"/>
                </a:solidFill>
                <a:latin typeface="Calibri"/>
              </a:defRPr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Dataset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62170-E006-CC33-0397-C816CF324672}"/>
              </a:ext>
            </a:extLst>
          </p:cNvPr>
          <p:cNvSpPr txBox="1"/>
          <p:nvPr/>
        </p:nvSpPr>
        <p:spPr>
          <a:xfrm>
            <a:off x="2125388" y="1189840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N" dirty="0">
              <a:solidFill>
                <a:schemeClr val="bg1">
                  <a:lumMod val="6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78AB52-5EB1-F463-A7AA-1DA177897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39" y="1065228"/>
            <a:ext cx="7942445" cy="12879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28DBD31-8D30-9397-E383-A7CA19E9A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69" y="2571750"/>
            <a:ext cx="5387539" cy="22834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1E543DC-0296-601B-854E-BA6130388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7965" y="2519465"/>
            <a:ext cx="2975695" cy="2335735"/>
          </a:xfrm>
          <a:prstGeom prst="rect">
            <a:avLst/>
          </a:prstGeom>
        </p:spPr>
      </p:pic>
      <p:sp>
        <p:nvSpPr>
          <p:cNvPr id="10" name="Shape 21">
            <a:extLst>
              <a:ext uri="{FF2B5EF4-FFF2-40B4-BE49-F238E27FC236}">
                <a16:creationId xmlns:a16="http://schemas.microsoft.com/office/drawing/2014/main" id="{E538009B-660F-D2B3-88D7-875F12D4CC2B}"/>
              </a:ext>
            </a:extLst>
          </p:cNvPr>
          <p:cNvSpPr/>
          <p:nvPr/>
        </p:nvSpPr>
        <p:spPr>
          <a:xfrm flipV="1">
            <a:off x="2788755" y="787870"/>
            <a:ext cx="2743200" cy="787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" y="188536"/>
            <a:ext cx="2862072" cy="4639496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2092" y="188536"/>
            <a:ext cx="2994660" cy="4630352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7044" y="179392"/>
            <a:ext cx="2962832" cy="4639496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4754880"/>
            <a:ext cx="64008" cy="640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047869B-FA62-DCE6-7BF9-5B97793ED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17" y="324612"/>
            <a:ext cx="8675806" cy="4476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D1CE3-148E-D3F7-23BF-AF7A316B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D4F61E-472C-0B18-BE45-66F627C19D20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FB86F2-13B1-94CB-3138-B476B81D2B0F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7434F3-F44A-7D7A-BC63-677ECD5C2863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3544C4-202B-0825-87E1-470AC29791BC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08C732-AFB5-9503-C34E-CD31A942B70F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B0956B4-0E50-984B-2872-BD9F11DB008D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47E7A-50C3-EAED-508E-207E3C0E4EF6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6B4304-0EEA-CDE2-81B2-91EE8B9FEE3B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E7FF5A-ABB4-4A63-CECF-1C38615ABE00}"/>
              </a:ext>
            </a:extLst>
          </p:cNvPr>
          <p:cNvSpPr/>
          <p:nvPr/>
        </p:nvSpPr>
        <p:spPr>
          <a:xfrm>
            <a:off x="128016" y="68333"/>
            <a:ext cx="2862072" cy="4759699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027EE19-02B7-E507-E541-7B493FDEDFE6}"/>
              </a:ext>
            </a:extLst>
          </p:cNvPr>
          <p:cNvSpPr/>
          <p:nvPr/>
        </p:nvSpPr>
        <p:spPr>
          <a:xfrm>
            <a:off x="3154680" y="402336"/>
            <a:ext cx="2862072" cy="4416552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F6A057B-15CE-06DA-23DF-9A74647F5425}"/>
              </a:ext>
            </a:extLst>
          </p:cNvPr>
          <p:cNvSpPr/>
          <p:nvPr/>
        </p:nvSpPr>
        <p:spPr>
          <a:xfrm>
            <a:off x="3191256" y="452628"/>
            <a:ext cx="278892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8348B62-90DA-604A-3CA8-4E8A0199D2EA}"/>
              </a:ext>
            </a:extLst>
          </p:cNvPr>
          <p:cNvSpPr/>
          <p:nvPr/>
        </p:nvSpPr>
        <p:spPr>
          <a:xfrm>
            <a:off x="3191256" y="518746"/>
            <a:ext cx="2788920" cy="823282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F64956C-E05B-B04C-45B2-35B8B4898117}"/>
              </a:ext>
            </a:extLst>
          </p:cNvPr>
          <p:cNvSpPr/>
          <p:nvPr/>
        </p:nvSpPr>
        <p:spPr>
          <a:xfrm>
            <a:off x="6167804" y="118625"/>
            <a:ext cx="2829703" cy="4700263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7F6C5D6-F438-88B8-9FE4-2D0FCE629A5B}"/>
              </a:ext>
            </a:extLst>
          </p:cNvPr>
          <p:cNvSpPr/>
          <p:nvPr/>
        </p:nvSpPr>
        <p:spPr>
          <a:xfrm>
            <a:off x="137160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0321BB4-490C-9535-BC1B-B3017B318502}"/>
              </a:ext>
            </a:extLst>
          </p:cNvPr>
          <p:cNvSpPr/>
          <p:nvPr/>
        </p:nvSpPr>
        <p:spPr>
          <a:xfrm>
            <a:off x="292608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28306C9-E44D-55A5-0676-FAAA41D62511}"/>
              </a:ext>
            </a:extLst>
          </p:cNvPr>
          <p:cNvSpPr/>
          <p:nvPr/>
        </p:nvSpPr>
        <p:spPr>
          <a:xfrm>
            <a:off x="4480560" y="4754880"/>
            <a:ext cx="64008" cy="640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72B06E-B716-DEE5-EB55-395344A82279}"/>
              </a:ext>
            </a:extLst>
          </p:cNvPr>
          <p:cNvSpPr/>
          <p:nvPr/>
        </p:nvSpPr>
        <p:spPr>
          <a:xfrm>
            <a:off x="603504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FA836C0-0810-1DE1-5E51-AE1F3460A760}"/>
              </a:ext>
            </a:extLst>
          </p:cNvPr>
          <p:cNvSpPr/>
          <p:nvPr/>
        </p:nvSpPr>
        <p:spPr>
          <a:xfrm>
            <a:off x="7589520" y="4754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4B6DEF-4C00-400D-73E1-B47E5F53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67" y="276535"/>
            <a:ext cx="8467248" cy="460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7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907D3-66F3-8344-40F7-3E851B9AE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5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3BCD29-4103-20E2-39CD-A0A581FA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8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" y="219456"/>
            <a:ext cx="8577072" cy="877824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" y="292608"/>
            <a:ext cx="8503920" cy="804672"/>
          </a:xfrm>
          <a:prstGeom prst="rect">
            <a:avLst/>
          </a:prstGeom>
          <a:solidFill>
            <a:srgbClr val="0D2348"/>
          </a:solidFill>
          <a:ln w="15240">
            <a:solidFill>
              <a:srgbClr val="2563EB"/>
            </a:solidFill>
            <a:prstDash val="solid"/>
          </a:ln>
          <a:effectLst>
            <a:outerShdw blurRad="279400" dist="50800" dir="8100000" algn="bl" rotWithShape="0">
              <a:srgbClr val="000010">
                <a:alpha val="70000"/>
              </a:srgbClr>
            </a:outerShdw>
          </a:effectLst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2"/>
                </a:solidFill>
              </a:rPr>
              <a:t>Model Selection And Basics 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56032"/>
            <a:ext cx="8503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115568"/>
            <a:ext cx="8412480" cy="1828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8F063-7AB4-5580-6F9A-8E48CAEDC47D}"/>
              </a:ext>
            </a:extLst>
          </p:cNvPr>
          <p:cNvSpPr txBox="1"/>
          <p:nvPr/>
        </p:nvSpPr>
        <p:spPr>
          <a:xfrm>
            <a:off x="2342271" y="2834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16" name="AutoShape 2" descr="CNN model training pipeline infographic">
            <a:extLst>
              <a:ext uri="{FF2B5EF4-FFF2-40B4-BE49-F238E27FC236}">
                <a16:creationId xmlns:a16="http://schemas.microsoft.com/office/drawing/2014/main" id="{3426C583-BDAF-4353-B255-3971943A2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429435" cy="24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30E2246-7126-AE0B-EBFC-E288EBB5E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" y="1243795"/>
            <a:ext cx="8275319" cy="36802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E7EB5-02DE-5183-51A5-3E85D1F5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9E387F-A71C-1A31-4F4B-EE43EB3945B6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422C66-F4D8-CD25-76CA-AF80872C872E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FDECB3-1847-ECF9-DD8A-75B56977B318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261C12-B61C-E85A-6339-04D5023893F0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095CFE-4643-3F3D-99AB-B518D3E63ADE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CD1CB11-D447-51CC-D9B8-41489EB727C5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A8AE4E-284E-2E3A-2A9F-5F0D432B09F7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E4503D-66A2-EA2C-D3AB-A2B7D90BEE4E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52D213-340F-94AF-36F3-86E689DC1781}"/>
              </a:ext>
            </a:extLst>
          </p:cNvPr>
          <p:cNvSpPr/>
          <p:nvPr/>
        </p:nvSpPr>
        <p:spPr>
          <a:xfrm>
            <a:off x="283464" y="219456"/>
            <a:ext cx="8577072" cy="877824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91F708-A1F4-71D2-9DFA-71D6D91F059A}"/>
              </a:ext>
            </a:extLst>
          </p:cNvPr>
          <p:cNvSpPr/>
          <p:nvPr/>
        </p:nvSpPr>
        <p:spPr>
          <a:xfrm>
            <a:off x="388620" y="292608"/>
            <a:ext cx="8503920" cy="804672"/>
          </a:xfrm>
          <a:prstGeom prst="rect">
            <a:avLst/>
          </a:prstGeom>
          <a:solidFill>
            <a:srgbClr val="0D2348"/>
          </a:solidFill>
          <a:ln w="15240">
            <a:solidFill>
              <a:srgbClr val="2563EB"/>
            </a:solidFill>
            <a:prstDash val="solid"/>
          </a:ln>
          <a:effectLst>
            <a:outerShdw blurRad="279400" dist="50800" dir="8100000" algn="bl" rotWithShape="0">
              <a:srgbClr val="000010">
                <a:alpha val="70000"/>
              </a:srgbClr>
            </a:outerShdw>
          </a:effectLst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2"/>
                </a:solidFill>
              </a:rPr>
              <a:t>Model Selection And Basics 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31ACE33-A892-FF64-0741-226AD3631856}"/>
              </a:ext>
            </a:extLst>
          </p:cNvPr>
          <p:cNvSpPr/>
          <p:nvPr/>
        </p:nvSpPr>
        <p:spPr>
          <a:xfrm>
            <a:off x="320040" y="256032"/>
            <a:ext cx="8503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7D0BD52-7B83-CDA2-A90C-9D080D30D137}"/>
              </a:ext>
            </a:extLst>
          </p:cNvPr>
          <p:cNvSpPr/>
          <p:nvPr/>
        </p:nvSpPr>
        <p:spPr>
          <a:xfrm>
            <a:off x="365760" y="1115568"/>
            <a:ext cx="8412480" cy="1828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02520B9-A08D-ED5C-E592-977365FCD59F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CC80B5-3B94-9755-3491-96E4AF00E886}"/>
              </a:ext>
            </a:extLst>
          </p:cNvPr>
          <p:cNvSpPr txBox="1"/>
          <p:nvPr/>
        </p:nvSpPr>
        <p:spPr>
          <a:xfrm>
            <a:off x="2342271" y="2834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16" name="AutoShape 2" descr="CNN model training pipeline infographic">
            <a:extLst>
              <a:ext uri="{FF2B5EF4-FFF2-40B4-BE49-F238E27FC236}">
                <a16:creationId xmlns:a16="http://schemas.microsoft.com/office/drawing/2014/main" id="{3EDA4771-C684-DB59-2A24-E97716CE9A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429435" cy="24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905106-FD04-F721-987D-895AE8128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1264844"/>
            <a:ext cx="7346402" cy="359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7C47D-D62B-0FF3-1D26-D02D42B6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F281E6-D619-1145-3E9F-CA85E3D346A3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55FBB5-CAA2-FE4D-27B1-5328DE61130C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7F16EB-344E-75E9-EAE8-B7E83B3157DB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F9F0D9-A7F0-D412-1997-095F18E0DF7B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FB1A0A-8F83-9C74-780D-01910C70FF7F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2DFA98-9235-CEA5-CBFC-90C91F0A7162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AB4374B-B9C8-84D6-0D65-5DCADF89B617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3DE3160-AC2C-F169-4AB6-670D24500CD2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FBBEF2-DD7E-060E-0DD1-ABDB8463ABE0}"/>
              </a:ext>
            </a:extLst>
          </p:cNvPr>
          <p:cNvSpPr/>
          <p:nvPr/>
        </p:nvSpPr>
        <p:spPr>
          <a:xfrm>
            <a:off x="283464" y="219456"/>
            <a:ext cx="8577072" cy="877824"/>
          </a:xfrm>
          <a:prstGeom prst="rect">
            <a:avLst/>
          </a:prstGeom>
          <a:solidFill>
            <a:srgbClr val="0040CC">
              <a:alpha val="12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1C5F628-402D-5F8C-838D-C9735FAA18AE}"/>
              </a:ext>
            </a:extLst>
          </p:cNvPr>
          <p:cNvSpPr/>
          <p:nvPr/>
        </p:nvSpPr>
        <p:spPr>
          <a:xfrm>
            <a:off x="320040" y="256032"/>
            <a:ext cx="8503920" cy="804672"/>
          </a:xfrm>
          <a:prstGeom prst="rect">
            <a:avLst/>
          </a:prstGeom>
          <a:solidFill>
            <a:srgbClr val="0D2348"/>
          </a:solidFill>
          <a:ln w="15240">
            <a:solidFill>
              <a:srgbClr val="2563EB"/>
            </a:solidFill>
            <a:prstDash val="solid"/>
          </a:ln>
          <a:effectLst>
            <a:outerShdw blurRad="279400" dist="50800" dir="8100000" algn="bl" rotWithShape="0">
              <a:srgbClr val="000010">
                <a:alpha val="70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CF047D0-8249-A93A-B110-CF6D9E422EC7}"/>
              </a:ext>
            </a:extLst>
          </p:cNvPr>
          <p:cNvSpPr/>
          <p:nvPr/>
        </p:nvSpPr>
        <p:spPr>
          <a:xfrm>
            <a:off x="320040" y="256032"/>
            <a:ext cx="8503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0E578F-F7FD-2226-0F5B-BD6DA644523F}"/>
              </a:ext>
            </a:extLst>
          </p:cNvPr>
          <p:cNvSpPr/>
          <p:nvPr/>
        </p:nvSpPr>
        <p:spPr>
          <a:xfrm>
            <a:off x="320040" y="326081"/>
            <a:ext cx="8503920" cy="164592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E014BB1-52C6-1DF1-4FB1-029EF913D21A}"/>
              </a:ext>
            </a:extLst>
          </p:cNvPr>
          <p:cNvSpPr/>
          <p:nvPr/>
        </p:nvSpPr>
        <p:spPr>
          <a:xfrm>
            <a:off x="365760" y="1115568"/>
            <a:ext cx="8412480" cy="1828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15C8871-AEF6-CC05-8D1C-920BC98DF89D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19CC0-DAC9-DF08-D470-3F9551B29F16}"/>
              </a:ext>
            </a:extLst>
          </p:cNvPr>
          <p:cNvSpPr txBox="1"/>
          <p:nvPr/>
        </p:nvSpPr>
        <p:spPr>
          <a:xfrm>
            <a:off x="2342271" y="2834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B7750C-0E7D-1A59-80BD-1F8D0CF22D83}"/>
              </a:ext>
            </a:extLst>
          </p:cNvPr>
          <p:cNvSpPr txBox="1"/>
          <p:nvPr/>
        </p:nvSpPr>
        <p:spPr>
          <a:xfrm>
            <a:off x="2929447" y="248321"/>
            <a:ext cx="29803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Agency FB" panose="020B0503020202020204" pitchFamily="34" charset="0"/>
              </a:rPr>
              <a:t>Model Training</a:t>
            </a:r>
            <a:endParaRPr lang="en-IN" sz="4400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16" name="AutoShape 2" descr="CNN model training pipeline infographic">
            <a:extLst>
              <a:ext uri="{FF2B5EF4-FFF2-40B4-BE49-F238E27FC236}">
                <a16:creationId xmlns:a16="http://schemas.microsoft.com/office/drawing/2014/main" id="{AB59D30E-4087-E5C1-50CB-F6C85327B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429435" cy="24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D439-0129-0777-E111-BB26D72BD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97416"/>
            <a:ext cx="7772400" cy="35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8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4107" y="230536"/>
            <a:ext cx="8475785" cy="899277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D5C4E-A265-4534-D0AD-6C514D164AE2}"/>
              </a:ext>
            </a:extLst>
          </p:cNvPr>
          <p:cNvSpPr txBox="1"/>
          <p:nvPr/>
        </p:nvSpPr>
        <p:spPr>
          <a:xfrm>
            <a:off x="2958417" y="251460"/>
            <a:ext cx="35173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2"/>
                </a:solidFill>
                <a:latin typeface="Agency FB" panose="020B0503020202020204" pitchFamily="34" charset="0"/>
              </a:rPr>
              <a:t>Training Curves</a:t>
            </a:r>
            <a:endParaRPr lang="en-IN" sz="4800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3E88DB-7F9A-A5EB-256E-D204B9FE23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4" y="1535085"/>
            <a:ext cx="8306971" cy="2957966"/>
          </a:xfrm>
          <a:prstGeom prst="rect">
            <a:avLst/>
          </a:prstGeom>
        </p:spPr>
      </p:pic>
      <p:sp>
        <p:nvSpPr>
          <p:cNvPr id="12" name="Shape 21">
            <a:extLst>
              <a:ext uri="{FF2B5EF4-FFF2-40B4-BE49-F238E27FC236}">
                <a16:creationId xmlns:a16="http://schemas.microsoft.com/office/drawing/2014/main" id="{312E9E02-E5A6-2FAC-9A87-70704F5B0A0D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3FB6E-EBEA-2863-B020-88C2940E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83310B-B20A-FC96-D0F6-972F51B97059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C77D09-CFC5-6389-EA6A-F07E5A28BEC9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571029-B994-7AB8-8114-254D82D8914A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86CDBC-6B5B-EB90-3B65-7493789C9EE3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BC208F-4FE5-77F5-7B17-718421CCB5C1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0CFB59-0468-AF42-BB32-620FD335BCA4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04CD1D6-A94C-BFFD-1150-1E12705261F1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75D063-D48C-EC73-6D06-B6CDC892072E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4C4271-08C7-C9AA-0922-FCD6EABDF1AB}"/>
              </a:ext>
            </a:extLst>
          </p:cNvPr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ED993C6-180F-024D-A3F6-9AC6B7F5C354}"/>
              </a:ext>
            </a:extLst>
          </p:cNvPr>
          <p:cNvSpPr/>
          <p:nvPr/>
        </p:nvSpPr>
        <p:spPr>
          <a:xfrm>
            <a:off x="334107" y="230536"/>
            <a:ext cx="8475785" cy="899277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1D4C17-5192-84EB-C865-D3680381C606}"/>
              </a:ext>
            </a:extLst>
          </p:cNvPr>
          <p:cNvSpPr txBox="1"/>
          <p:nvPr/>
        </p:nvSpPr>
        <p:spPr>
          <a:xfrm>
            <a:off x="3339932" y="297349"/>
            <a:ext cx="2464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bg2"/>
                </a:solidFill>
                <a:latin typeface="Agency FB" panose="020B0503020202020204" pitchFamily="34" charset="0"/>
              </a:rPr>
              <a:t>ROC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Curves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DE779D1-04F2-F669-03F8-B89FD0EA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4862" y="2156252"/>
            <a:ext cx="299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gency FB" panose="020B0503020202020204" pitchFamily="34" charset="0"/>
              </a:rPr>
              <a:t>X axis:- False Positive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bg2"/>
                </a:solidFill>
                <a:latin typeface="Agency FB" panose="020B0503020202020204" pitchFamily="34" charset="0"/>
              </a:rPr>
              <a:t>Y axis:- True Positive Rate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gency FB" panose="020B05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8DC72F-24A3-3D95-6B15-A58208CDD3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07" y="1402281"/>
            <a:ext cx="4659230" cy="3510683"/>
          </a:xfrm>
          <a:prstGeom prst="rect">
            <a:avLst/>
          </a:prstGeom>
        </p:spPr>
      </p:pic>
      <p:sp>
        <p:nvSpPr>
          <p:cNvPr id="12" name="Shape 21">
            <a:extLst>
              <a:ext uri="{FF2B5EF4-FFF2-40B4-BE49-F238E27FC236}">
                <a16:creationId xmlns:a16="http://schemas.microsoft.com/office/drawing/2014/main" id="{7E0BF207-4EED-67BA-586D-B8BC7E5A22CE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72179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87108-3ACA-8EA1-C92F-C5BCB8B9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BB8FF7-C6F5-28E7-B692-1DAFF524911F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BCFC0C-95CE-2C16-1AD3-D2FA15F36945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E06554-012E-8466-F27F-DEBF0008702A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5A4E8C-1EB1-D63C-E49A-4555806523D3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4F2CA4-A713-BA28-88D0-89972916B420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E723AF2-AB61-84A5-4D81-B6269873D95A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E8430A-4F04-EF8C-3B61-3EB89D7DAAB3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6E4802C-6812-1D55-6C50-4BE12E3B4CBE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EB02D4A-B200-35FC-F046-0E993988791E}"/>
              </a:ext>
            </a:extLst>
          </p:cNvPr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FED53BE-3248-4E9B-7B9F-92910EBAAACC}"/>
              </a:ext>
            </a:extLst>
          </p:cNvPr>
          <p:cNvSpPr/>
          <p:nvPr/>
        </p:nvSpPr>
        <p:spPr>
          <a:xfrm>
            <a:off x="334107" y="230536"/>
            <a:ext cx="8475785" cy="899277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22721-28F8-44E7-805F-FCBF1DCB07E3}"/>
              </a:ext>
            </a:extLst>
          </p:cNvPr>
          <p:cNvSpPr txBox="1"/>
          <p:nvPr/>
        </p:nvSpPr>
        <p:spPr>
          <a:xfrm>
            <a:off x="2862237" y="321027"/>
            <a:ext cx="34195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bg2"/>
                </a:solidFill>
                <a:latin typeface="Agency FB" panose="020B0503020202020204" pitchFamily="34" charset="0"/>
              </a:rPr>
              <a:t>Confusion Matrix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0EFB9D-02C6-6552-8637-E541E37F3BAE}"/>
              </a:ext>
            </a:extLst>
          </p:cNvPr>
          <p:cNvSpPr txBox="1"/>
          <p:nvPr/>
        </p:nvSpPr>
        <p:spPr>
          <a:xfrm>
            <a:off x="4549950" y="2202418"/>
            <a:ext cx="3190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Correct Predictions = Diagonal Elements </a:t>
            </a:r>
            <a:endParaRPr lang="en-IN" dirty="0">
              <a:solidFill>
                <a:schemeClr val="bg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674C89-3EC3-9204-DA6C-81CC8994C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87" y="1508910"/>
            <a:ext cx="4522272" cy="3191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4D750B-E503-5F4E-5120-A9B36CD80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29" y="1475793"/>
            <a:ext cx="4095459" cy="3365956"/>
          </a:xfrm>
          <a:prstGeom prst="rect">
            <a:avLst/>
          </a:prstGeom>
        </p:spPr>
      </p:pic>
      <p:sp>
        <p:nvSpPr>
          <p:cNvPr id="11" name="Shape 21">
            <a:extLst>
              <a:ext uri="{FF2B5EF4-FFF2-40B4-BE49-F238E27FC236}">
                <a16:creationId xmlns:a16="http://schemas.microsoft.com/office/drawing/2014/main" id="{CDA37D96-6B8E-AB6F-19C7-AD9C1881812B}"/>
              </a:ext>
            </a:extLst>
          </p:cNvPr>
          <p:cNvSpPr/>
          <p:nvPr/>
        </p:nvSpPr>
        <p:spPr>
          <a:xfrm>
            <a:off x="3200400" y="11018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64053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3C84D-8556-DD98-993D-CDB897BC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79FE19-9787-16B3-3CC8-95E3017A9A9D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4369CB-BC1A-F99B-AD70-270A855A84B7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7522B9-EE40-C346-2C55-AE399E3C97F3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9DAAC7-1ACE-0A5F-1DE5-E772FFB35C54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30297E-7583-3F85-843C-FB8944D2CC48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41FD01-F982-8728-2091-9018C56686BA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3B73762-6733-2D6E-9C55-059137C8183C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A720A02-6F04-7A42-9428-92B2F28E13FE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4BE3FA-4C3B-61E9-6496-D5C471B0F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56" y="172409"/>
            <a:ext cx="8663138" cy="469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2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15AC0-3D6F-983A-CA5F-FF178398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B926F3-9924-F801-3E29-80C10FC62091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0554EF-6A9C-2B4A-5FCB-A1600C576BDF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127481-831A-7019-4E61-5844257C853B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CAE1F4-F87A-4510-0E9C-47510175CC8F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2823F7-237A-E4F2-5876-3715573FAA73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675B60-F640-A56A-8014-92E6A3A72364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68657C-B740-0B9C-5019-D3DFA4E3A0CC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C774DB-FAC9-EB4B-A012-BDF1B31CB79B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C86C2A-E5A0-8667-1EF2-2BA954659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6" y="152145"/>
            <a:ext cx="8721547" cy="483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62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947C3-D23E-443D-337E-2B986A1F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201776-52A1-8AA2-87BC-E1876216BCC1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3B876D-F937-B1CB-7185-527DD412D7B9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632C0F-7ACB-4A8F-2D92-5FB29BADA39E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30441B-1574-21C0-054B-CDE7853CD9E7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1331D6-FDBA-82A1-C29D-60B869ADF8E8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A7F051-2F98-8FC5-1EC1-874D2D85566A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9605B9E-7FD0-EEDA-0C8A-B7D436707A87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1B3FB82-A13C-D78A-D320-FDE5A62B6F88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7907B5-22DA-1B0F-3BB9-053D45DE2E76}"/>
              </a:ext>
            </a:extLst>
          </p:cNvPr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7576564-CF8D-26A5-841F-81232C59D2FE}"/>
              </a:ext>
            </a:extLst>
          </p:cNvPr>
          <p:cNvSpPr/>
          <p:nvPr/>
        </p:nvSpPr>
        <p:spPr>
          <a:xfrm>
            <a:off x="334107" y="230536"/>
            <a:ext cx="8475785" cy="899277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8D202-7CE0-9E01-1E5F-C05FBB99C5EA}"/>
              </a:ext>
            </a:extLst>
          </p:cNvPr>
          <p:cNvSpPr txBox="1"/>
          <p:nvPr/>
        </p:nvSpPr>
        <p:spPr>
          <a:xfrm>
            <a:off x="2862237" y="321027"/>
            <a:ext cx="34195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bg2"/>
                </a:solidFill>
                <a:latin typeface="Agency FB" panose="020B0503020202020204" pitchFamily="34" charset="0"/>
              </a:rPr>
              <a:t>Confusion Matrix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36CA26-1481-CB4B-3CB2-3527D3499161}"/>
              </a:ext>
            </a:extLst>
          </p:cNvPr>
          <p:cNvSpPr txBox="1"/>
          <p:nvPr/>
        </p:nvSpPr>
        <p:spPr>
          <a:xfrm>
            <a:off x="4549950" y="2202418"/>
            <a:ext cx="3190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Correct Predictions = Diagonal Elements </a:t>
            </a:r>
            <a:endParaRPr lang="en-IN" dirty="0">
              <a:solidFill>
                <a:schemeClr val="bg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D9B1E8-91F5-6599-2C30-2D7A8A7F83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196" y="1243933"/>
            <a:ext cx="4424096" cy="13278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5006F6-5FBD-BD44-39F5-17706A78C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240" y="2684714"/>
            <a:ext cx="4387052" cy="19558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EA8F5D-B01D-77AA-231B-79B2FAA9E8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6" y="1260437"/>
            <a:ext cx="3655188" cy="3351466"/>
          </a:xfrm>
          <a:prstGeom prst="rect">
            <a:avLst/>
          </a:prstGeom>
        </p:spPr>
      </p:pic>
      <p:sp>
        <p:nvSpPr>
          <p:cNvPr id="14" name="Shape 21">
            <a:extLst>
              <a:ext uri="{FF2B5EF4-FFF2-40B4-BE49-F238E27FC236}">
                <a16:creationId xmlns:a16="http://schemas.microsoft.com/office/drawing/2014/main" id="{6C0E9692-3D61-A4A2-1ACF-EF832D444471}"/>
              </a:ext>
            </a:extLst>
          </p:cNvPr>
          <p:cNvSpPr/>
          <p:nvPr/>
        </p:nvSpPr>
        <p:spPr>
          <a:xfrm>
            <a:off x="3178350" y="1101753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08530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D6CBD-5913-11E6-B1D9-2D171030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3CDA43-2DB2-95A0-0162-409AD53A1E95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0464FD-6D2E-77F8-AA48-54579F127ADC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1C5934-7F2A-FF2B-5661-DF4A38C1BF46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CEA1A2-4BCA-DA45-AEDA-8B1B349A4105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ED5EF5-CF90-3F6F-150E-8923815EEE3A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49A74C-7D4C-A6C5-C9F1-A77388173AA9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BD7248-B138-8A95-279D-0BDBA4D2FB36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0B3DDF-2BA4-44FE-10C7-63C7A0A31F1D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BAFAAA-FFBC-DF58-E593-CC6BA2235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00" y="142182"/>
            <a:ext cx="8248985" cy="485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2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E3861-0D1E-97D1-1B13-9A5DC8DA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788066-FC44-FE53-6DEA-ACA628E6BF5A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6EEFCD-F478-CB87-2E6A-686AF2005CDD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8F90E0A-DDE4-2548-0F84-C895A4D7DA75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C43D4A-DC58-4AE6-3D0C-AB3E54F699F1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D7C3EA4-189A-E685-31A7-BADFC58F7D5E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FCD1B38-F9F6-5E37-7768-EC6101CCE487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DBA924-DB7D-44B4-771B-CEFE9D640F8F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E4BFD7-A211-4D5E-FDCC-165B1D15ECAC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5E44C8-900E-A293-A84F-A59CEAE8A8FF}"/>
              </a:ext>
            </a:extLst>
          </p:cNvPr>
          <p:cNvSpPr/>
          <p:nvPr/>
        </p:nvSpPr>
        <p:spPr>
          <a:xfrm>
            <a:off x="391608" y="133423"/>
            <a:ext cx="8475786" cy="502920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19A43C-2672-C092-257F-C7731619F685}"/>
              </a:ext>
            </a:extLst>
          </p:cNvPr>
          <p:cNvSpPr txBox="1"/>
          <p:nvPr/>
        </p:nvSpPr>
        <p:spPr>
          <a:xfrm>
            <a:off x="2585428" y="30940"/>
            <a:ext cx="3520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GradCam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Results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3A41F3-2F06-0A32-402E-B3A49AA0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80" y="793690"/>
            <a:ext cx="7851439" cy="4216387"/>
          </a:xfrm>
          <a:prstGeom prst="rect">
            <a:avLst/>
          </a:prstGeom>
        </p:spPr>
      </p:pic>
      <p:sp>
        <p:nvSpPr>
          <p:cNvPr id="11" name="Shape 21">
            <a:extLst>
              <a:ext uri="{FF2B5EF4-FFF2-40B4-BE49-F238E27FC236}">
                <a16:creationId xmlns:a16="http://schemas.microsoft.com/office/drawing/2014/main" id="{469A9D04-8544-1361-3592-16595AD1304F}"/>
              </a:ext>
            </a:extLst>
          </p:cNvPr>
          <p:cNvSpPr/>
          <p:nvPr/>
        </p:nvSpPr>
        <p:spPr>
          <a:xfrm>
            <a:off x="2851608" y="649641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2948391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7881A-0500-EAD2-4097-14CDE561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F41D36-329F-9ED2-14B0-2E7FCEDC6AD0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B9E69C-6972-1D97-E104-8CFE885D58C5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619AE-5173-9DAF-CE1D-E152DAB50028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2A225E-897F-B8FD-D50C-DFB31FD17FD3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C8FBBF-13AD-78E5-61F4-C3B6FB48DF58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D0E362-BFC2-8DF7-D4C3-6FE31D3A6B94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D293DB4-F509-E103-1599-5C0CD46882AA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C7DA9C-45A4-D4EB-BADF-31CC09B77F8C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E646316-ABCF-2FDB-5C4F-F7A99FAA46BB}"/>
              </a:ext>
            </a:extLst>
          </p:cNvPr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56A964F-0E96-5711-00C8-76BA6CD9C14E}"/>
              </a:ext>
            </a:extLst>
          </p:cNvPr>
          <p:cNvSpPr/>
          <p:nvPr/>
        </p:nvSpPr>
        <p:spPr>
          <a:xfrm>
            <a:off x="334107" y="230536"/>
            <a:ext cx="8475785" cy="899277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9541C8-062E-C288-B038-4380BD817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6" y="361314"/>
            <a:ext cx="8494159" cy="448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06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0D3B8A-A47D-0B1F-99F5-D8F0F90EB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" y="210145"/>
            <a:ext cx="8741664" cy="4723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2C15F-130F-0E68-1FC4-EC0986EA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A3C3BD-F5AE-3D1F-C0BC-B79C2FFF13C7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3DBAF0-84C9-DD63-6089-4D8F79B52A23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24C354-9647-6F74-9A02-ACCC4E377147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706112-5EE3-9B6B-40C5-FC251345E1C1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D38985-5CB7-D49A-1E6B-260E33134484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8477B58-EEED-E3CE-FBFF-E0D74483F4C9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68A76B0-04FD-F8A6-D929-F077534E3BE4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158BEB3-12DC-A704-9F0E-6D45448571B2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04A985-A598-168F-D4C6-4C6DF959E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72" y="1484045"/>
            <a:ext cx="4305891" cy="2827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0E3843-E1E9-C2E9-00D7-241567075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37" y="1484045"/>
            <a:ext cx="4456327" cy="29875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233DFA-D162-93CF-0FC2-65D3F9FF9E41}"/>
              </a:ext>
            </a:extLst>
          </p:cNvPr>
          <p:cNvSpPr txBox="1"/>
          <p:nvPr/>
        </p:nvSpPr>
        <p:spPr>
          <a:xfrm>
            <a:off x="1001210" y="251460"/>
            <a:ext cx="7141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bg2"/>
                </a:solidFill>
              </a:rPr>
              <a:t>Real-Time Steel Inspection</a:t>
            </a:r>
            <a:endParaRPr lang="en-US" sz="4800" b="1" dirty="0">
              <a:solidFill>
                <a:schemeClr val="bg2"/>
              </a:solidFill>
            </a:endParaRPr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3872B494-FB60-939B-D051-14306C578E04}"/>
              </a:ext>
            </a:extLst>
          </p:cNvPr>
          <p:cNvSpPr/>
          <p:nvPr/>
        </p:nvSpPr>
        <p:spPr>
          <a:xfrm>
            <a:off x="2851609" y="1099806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337855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BB7FF-2F89-D817-A46A-9EDF397C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D6D524-7BDC-C52A-AB7E-07A91F813492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C28C5C-90D3-B60B-85BB-8E66A9AAB096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149CCA-2C34-BD00-37DF-F7BC38672001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9A6619-CCE2-A96B-1867-DC64A37C6994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73B8CF-12D2-2F97-870E-A6AA5B556E1F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C16AAE-965B-1AAD-C097-6992AC7BEBFD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605C43-A5C3-9597-11E4-0D392D5E77DE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CD33C3C-0D9C-8A1E-7A10-7DB92A96582C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C303742-8561-F124-87DA-DD0B6A3C2370}"/>
              </a:ext>
            </a:extLst>
          </p:cNvPr>
          <p:cNvSpPr/>
          <p:nvPr/>
        </p:nvSpPr>
        <p:spPr>
          <a:xfrm flipV="1">
            <a:off x="334106" y="251460"/>
            <a:ext cx="8475785" cy="502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7CBF32-AE22-36F6-11F7-8F07948A6C31}"/>
              </a:ext>
            </a:extLst>
          </p:cNvPr>
          <p:cNvSpPr/>
          <p:nvPr/>
        </p:nvSpPr>
        <p:spPr>
          <a:xfrm>
            <a:off x="334107" y="230536"/>
            <a:ext cx="8475786" cy="746233"/>
          </a:xfrm>
          <a:prstGeom prst="rect">
            <a:avLst/>
          </a:prstGeom>
          <a:solidFill>
            <a:srgbClr val="1040A0">
              <a:alpha val="30000"/>
            </a:srgbClr>
          </a:solidFill>
          <a:ln w="12700">
            <a:solidFill>
              <a:srgbClr val="1040A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A6EB8-F5AC-21B1-BC0A-731F7E6E5672}"/>
              </a:ext>
            </a:extLst>
          </p:cNvPr>
          <p:cNvSpPr txBox="1"/>
          <p:nvPr/>
        </p:nvSpPr>
        <p:spPr>
          <a:xfrm>
            <a:off x="2111228" y="128249"/>
            <a:ext cx="4921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Using Synthetic Dataset 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CABE40-8A16-4F99-FCE6-C5C69659E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31514"/>
            <a:ext cx="3201814" cy="1610324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74D01C6-4700-FB9F-C614-90388411A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17" y="2785658"/>
            <a:ext cx="3140017" cy="212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E68414-38F2-6791-1888-AD5535D17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549" y="1131514"/>
            <a:ext cx="4414837" cy="3760526"/>
          </a:xfrm>
          <a:prstGeom prst="rect">
            <a:avLst/>
          </a:prstGeom>
        </p:spPr>
      </p:pic>
      <p:sp>
        <p:nvSpPr>
          <p:cNvPr id="11" name="Shape 21">
            <a:extLst>
              <a:ext uri="{FF2B5EF4-FFF2-40B4-BE49-F238E27FC236}">
                <a16:creationId xmlns:a16="http://schemas.microsoft.com/office/drawing/2014/main" id="{1DEBB58D-ECD8-E511-032B-D0FF8F6ABA9A}"/>
              </a:ext>
            </a:extLst>
          </p:cNvPr>
          <p:cNvSpPr/>
          <p:nvPr/>
        </p:nvSpPr>
        <p:spPr>
          <a:xfrm>
            <a:off x="3149751" y="936386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176326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4A890-7CBD-DA1E-4424-9FFA0381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A1C9EF-94B0-D0E2-D6CD-9339E814E4EE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F8F6D9-AD3C-A104-2F9A-E708CD457384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3A3765-4367-4EC0-8B91-91E03A6605E6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E42D9A-61B5-D822-3562-9D104D9A3681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170D97-536B-D11D-2CD5-C10744DFA908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72569D-9EF6-6A38-E5ED-C4EA99761E04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A332B2-E12E-7839-03E5-1A116E6EC2DF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6BF2D09-52EF-3C42-714F-521E1F436230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DC361CE-754F-92EF-B218-D030AE2C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21520"/>
            <a:ext cx="8196521" cy="259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B29AB5-3B38-09B7-4FBE-CC141C6DB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466" y="3070598"/>
            <a:ext cx="7156016" cy="182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73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17596-1434-FD23-D487-2E53CF7A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446048-6AC1-4562-7B44-1404E8E2F4B9}"/>
              </a:ext>
            </a:extLst>
          </p:cNvPr>
          <p:cNvSpPr/>
          <p:nvPr/>
        </p:nvSpPr>
        <p:spPr>
          <a:xfrm>
            <a:off x="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46C821-B261-EA65-2243-41720365B35A}"/>
              </a:ext>
            </a:extLst>
          </p:cNvPr>
          <p:cNvSpPr/>
          <p:nvPr/>
        </p:nvSpPr>
        <p:spPr>
          <a:xfrm>
            <a:off x="0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2D756F-5542-C64E-3A59-2A90D1EA89E2}"/>
              </a:ext>
            </a:extLst>
          </p:cNvPr>
          <p:cNvSpPr/>
          <p:nvPr/>
        </p:nvSpPr>
        <p:spPr>
          <a:xfrm>
            <a:off x="8641080" y="0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E23342-E582-26AD-78FB-487C53A6612E}"/>
              </a:ext>
            </a:extLst>
          </p:cNvPr>
          <p:cNvSpPr/>
          <p:nvPr/>
        </p:nvSpPr>
        <p:spPr>
          <a:xfrm>
            <a:off x="9093708" y="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B8C0E1-4DC7-54D7-D3FD-69114B14FD0D}"/>
              </a:ext>
            </a:extLst>
          </p:cNvPr>
          <p:cNvSpPr/>
          <p:nvPr/>
        </p:nvSpPr>
        <p:spPr>
          <a:xfrm>
            <a:off x="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07DCC4-DBCF-0F79-A268-78F2EC55E02D}"/>
              </a:ext>
            </a:extLst>
          </p:cNvPr>
          <p:cNvSpPr/>
          <p:nvPr/>
        </p:nvSpPr>
        <p:spPr>
          <a:xfrm>
            <a:off x="0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D8A116-A36B-AB84-CDD8-63470918040F}"/>
              </a:ext>
            </a:extLst>
          </p:cNvPr>
          <p:cNvSpPr/>
          <p:nvPr/>
        </p:nvSpPr>
        <p:spPr>
          <a:xfrm>
            <a:off x="8641080" y="5093208"/>
            <a:ext cx="502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ABF513-108A-D073-EB53-24A96B32B65A}"/>
              </a:ext>
            </a:extLst>
          </p:cNvPr>
          <p:cNvSpPr/>
          <p:nvPr/>
        </p:nvSpPr>
        <p:spPr>
          <a:xfrm>
            <a:off x="9093708" y="4640580"/>
            <a:ext cx="50292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C8FF">
                <a:alpha val="40000"/>
              </a:srgbClr>
            </a:outerShdw>
          </a:effectLst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0E9C9A-68E6-0F73-957B-4947867A8002}"/>
              </a:ext>
            </a:extLst>
          </p:cNvPr>
          <p:cNvSpPr txBox="1"/>
          <p:nvPr/>
        </p:nvSpPr>
        <p:spPr>
          <a:xfrm>
            <a:off x="2419626" y="1850457"/>
            <a:ext cx="41408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BODONI 72 SMALLCAPS BOOK" pitchFamily="2" charset="0"/>
                <a:cs typeface="APPLE CHANCERY" panose="03020702040506060504" pitchFamily="66" charset="-79"/>
              </a:rPr>
              <a:t>Thank You</a:t>
            </a: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BODONI 72 SMALLCAPS BOOK" pitchFamily="2" charset="0"/>
              <a:cs typeface="APPLE CHANCERY" panose="03020702040506060504" pitchFamily="66" charset="-79"/>
            </a:endParaRPr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BDCE7FE6-8EA2-DEA8-3B2C-84E003168129}"/>
              </a:ext>
            </a:extLst>
          </p:cNvPr>
          <p:cNvSpPr/>
          <p:nvPr/>
        </p:nvSpPr>
        <p:spPr>
          <a:xfrm>
            <a:off x="3200400" y="293065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228600" dist="50800" dir="16200000" algn="bl" rotWithShape="0">
              <a:srgbClr val="0050FF">
                <a:alpha val="5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74370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4610</TotalTime>
  <Words>209</Words>
  <Application>Microsoft Macintosh PowerPoint</Application>
  <PresentationFormat>On-screen Show (16:9)</PresentationFormat>
  <Paragraphs>57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Agency FB</vt:lpstr>
      <vt:lpstr>Arial</vt:lpstr>
      <vt:lpstr>Arial Narrow</vt:lpstr>
      <vt:lpstr>BODONI 72 SMALLCAPS BOOK</vt:lpstr>
      <vt:lpstr>Calibri</vt:lpstr>
      <vt:lpstr>YAFdJjbTu24_1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Waris</cp:lastModifiedBy>
  <cp:revision>15</cp:revision>
  <dcterms:created xsi:type="dcterms:W3CDTF">2026-04-26T15:23:48Z</dcterms:created>
  <dcterms:modified xsi:type="dcterms:W3CDTF">2026-05-21T10:07:45Z</dcterms:modified>
</cp:coreProperties>
</file>